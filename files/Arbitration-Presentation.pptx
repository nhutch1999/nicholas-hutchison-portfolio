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568"/>
  </p:normalViewPr>
  <p:slideViewPr>
    <p:cSldViewPr snapToGrid="0">
      <p:cViewPr varScale="1">
        <p:scale>
          <a:sx n="110" d="100"/>
          <a:sy n="110" d="100"/>
        </p:scale>
        <p:origin x="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49C11-DE56-AA44-8848-124B087A05A8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DD9D0-9292-7847-A2A4-1E8934C92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2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DD9D0-9292-7847-A2A4-1E8934C921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08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DD9D0-9292-7847-A2A4-1E8934C921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37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DD9D0-9292-7847-A2A4-1E8934C921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46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DD9D0-9292-7847-A2A4-1E8934C921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99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DD9D0-9292-7847-A2A4-1E8934C921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4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C1B30-356F-0FC4-AB33-EDCFCD67D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72C7F-3D4F-2818-E12F-CFDCA844D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7F7A8-21D3-E2C8-CE82-4489E5A9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B3E51-5BF1-4877-F572-DB49CC94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5C813-0977-1247-CFF9-F46588C6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2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89F8-0884-F010-CB98-AD46D458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8FA-1E2B-5B6B-6C9C-849ADD890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CAC1E-EDEA-2035-F960-E74E1D24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F478-FB80-4C20-26C7-A7185217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5056A-EA4A-285C-1A88-6FD21D59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1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9310-69BC-B829-3597-BEBB9106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4592C-EC5E-2ADF-5857-3F9FEBE6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504B-4F5E-9CDD-0053-718E38C2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9BC0-CC37-8853-D34F-7BC87628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BBEBC-1743-6522-EFF8-1B3D502E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04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5E05-5189-AE8C-642F-4664CDEF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2BE6C-996E-A960-9EDC-2CA0DE6E0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8B332-8E23-46C8-E01C-114701200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EAFF8-848E-0ADA-1BDD-3A7BD6B4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9293F-752E-73D7-BF9A-D82AD225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1365E-474D-5EBF-2D76-5B0FE4C8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6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0183-3A5A-B137-FD9B-B7884556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EEBB6-E4C4-7210-9CC5-3D9B5B05D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A8A69-7B43-DE9E-7653-C5D369A01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75F8C-78A8-2C90-A267-BAC16B70E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709C3-9599-B4B9-7B22-77219E2AB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1DEBD-8FDE-1E2E-7E46-ECB9C6A1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4CDF3-0B50-85B7-E251-1507BAF1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E9787C-E935-35A9-8C34-F043AD33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8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2B40-BD8B-20A5-6A90-0F8F24F2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06FA7-0685-A899-99D3-D58078B7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BDA9A-FD94-65F6-290F-44951D1F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C4421-0C89-477F-329B-1AD7D137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98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F3A83-3C2A-D1AB-55C1-A1E461D1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27034-E6B9-9730-8D2F-9A7E6524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6E2BA-B553-215B-5BAA-142833EA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2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266E-5F1C-87F6-B077-138AFD0F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4448-16BF-51D0-8F85-E4EEEF7D4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84032-4902-11CA-D9CC-FE6180E75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63B54-C38C-5723-9D0F-15933FB4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62FD0-01FB-E09A-431C-874E38C7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1CAF-B357-631C-3586-E3FE790D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0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CED41-4E22-E0DE-A0CC-EF5090AE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D448C-C00F-84BF-3096-2F01303E0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C3907-9515-F03C-EEFF-DEA57EB4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6A117-7D56-4D59-1667-65122461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0C616-9972-EE6D-2DC2-ACEE8903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C3679-4E0D-4EA2-CFC3-94AFA49F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F96F-0949-89BE-F798-2DC5F31C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0D33D-EC8C-E8E9-257E-17A61EF65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7FB00-A4E3-EBEA-1205-0F90133F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8666E-EFF2-59C7-6092-BEFA368D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1049-AB7A-6C0F-03FC-145434C0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8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CA026-0376-E145-14B2-BC9314E67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306E8-B511-589C-D3E7-D4D5020CB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275E8-D94A-7D62-C48F-028E5C30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A04A5-5E3A-2018-1199-8AA65660C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A5A72-6FFD-174F-005C-80EE9F11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4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218CA-8EE0-D9DF-BE63-ACB5854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E0CD9-136C-01EF-7D70-DFAC81786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04D8-9450-42C7-F733-BF19033DE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32126-8913-D149-99ED-00F9AF2CBE8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6C746-D5B8-4BF2-301D-4A6E4E7F0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30EA7-BD41-140A-4473-290DF3AED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A1FEC-DA81-0A49-B6CC-7614D8017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9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A507-DB3D-9833-2F77-D845522A7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/>
              <a:t>What Drives First-Year MLB Arbitration Salaries for Starting Pitchers?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691C3-1549-6DC8-3358-FFC72CCA5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3532"/>
            <a:ext cx="9144000" cy="1655762"/>
          </a:xfrm>
        </p:spPr>
        <p:txBody>
          <a:bodyPr/>
          <a:lstStyle/>
          <a:p>
            <a:r>
              <a:rPr lang="en-US" dirty="0"/>
              <a:t>A Fangraphs + Spotrac + Statcast Econometric Analysis (2016-2026)</a:t>
            </a:r>
          </a:p>
          <a:p>
            <a:r>
              <a:rPr lang="en-US" dirty="0"/>
              <a:t>Nicholas Hutchison</a:t>
            </a:r>
          </a:p>
        </p:txBody>
      </p:sp>
    </p:spTree>
    <p:extLst>
      <p:ext uri="{BB962C8B-B14F-4D97-AF65-F5344CB8AC3E}">
        <p14:creationId xmlns:p14="http://schemas.microsoft.com/office/powerpoint/2010/main" val="374296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06CD-47F3-E682-E03E-F83EFF78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Matters?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4DBD-088B-18D0-96CE-21E3D20A1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01828"/>
          </a:xfrm>
        </p:spPr>
        <p:txBody>
          <a:bodyPr/>
          <a:lstStyle/>
          <a:p>
            <a:r>
              <a:rPr lang="en-US" sz="2000" dirty="0"/>
              <a:t>MLB arbitration affects millions in payroll decisions. Teams and players argue using performance metrics, but which metrics influence first-year salaries?</a:t>
            </a:r>
          </a:p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5FCB4B2-3008-7795-4031-69A1571A3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808" y="2762390"/>
            <a:ext cx="5568383" cy="340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210148-576C-0A77-D4E6-3059DB99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Obtained via Fangraphs Payroll Breakdown, Author Calculations</a:t>
            </a:r>
          </a:p>
        </p:txBody>
      </p:sp>
    </p:spTree>
    <p:extLst>
      <p:ext uri="{BB962C8B-B14F-4D97-AF65-F5344CB8AC3E}">
        <p14:creationId xmlns:p14="http://schemas.microsoft.com/office/powerpoint/2010/main" val="277301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1927-54DA-F609-6430-45179FFF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E1F180-0F4F-B8FC-A476-0AD80B946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35616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863177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71908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Source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9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Arbitration Salaries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Spotrac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11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Pitching Performance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Statcast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70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Arbitration 1 + Super Two SP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147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Years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2016-2026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44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Observations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67323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B10247B-32FF-3AFC-B4BB-50BE6B658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Source: Spotrac, Fangraphs, </a:t>
            </a:r>
            <a:r>
              <a:rPr lang="en-US" dirty="0" err="1"/>
              <a:t>Statcast</a:t>
            </a:r>
            <a:r>
              <a:rPr lang="en-US" dirty="0"/>
              <a:t>, Author calculations</a:t>
            </a:r>
          </a:p>
        </p:txBody>
      </p:sp>
    </p:spTree>
    <p:extLst>
      <p:ext uri="{BB962C8B-B14F-4D97-AF65-F5344CB8AC3E}">
        <p14:creationId xmlns:p14="http://schemas.microsoft.com/office/powerpoint/2010/main" val="14996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FF3F-FED2-8B4C-509E-947844A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Descriptive Statistics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B7F6A6-9D7F-4B9B-94A0-E374B902C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741505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138448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862076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910413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465378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126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1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$2.89M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$1.09M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$0.88M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$7.25M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6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81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35.6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731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BB%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6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6.73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7984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D021FC-C491-8083-DA84-C48A9500CAFF}"/>
              </a:ext>
            </a:extLst>
          </p:cNvPr>
          <p:cNvSpPr txBox="1"/>
          <p:nvPr/>
        </p:nvSpPr>
        <p:spPr>
          <a:xfrm>
            <a:off x="838200" y="4548850"/>
            <a:ext cx="1069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Salary distributions are heavily right-skewed, motivating a logarithmic specification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B61A8FC7-7CAE-F294-7156-5E17A976C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Source: Spotrac, Fangraphs, </a:t>
            </a:r>
            <a:r>
              <a:rPr lang="en-US" dirty="0" err="1"/>
              <a:t>Statcast</a:t>
            </a:r>
            <a:r>
              <a:rPr lang="en-US" dirty="0"/>
              <a:t>, Author calculations</a:t>
            </a:r>
          </a:p>
        </p:txBody>
      </p:sp>
    </p:spTree>
    <p:extLst>
      <p:ext uri="{BB962C8B-B14F-4D97-AF65-F5344CB8AC3E}">
        <p14:creationId xmlns:p14="http://schemas.microsoft.com/office/powerpoint/2010/main" val="210726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4284-1FD1-2C7A-EC74-F408FE94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Heatmap</a:t>
            </a:r>
          </a:p>
        </p:txBody>
      </p:sp>
      <p:pic>
        <p:nvPicPr>
          <p:cNvPr id="10" name="Content Placeholder 9" descr="A diagram of a graph&#10;&#10;AI-generated content may be incorrect.">
            <a:extLst>
              <a:ext uri="{FF2B5EF4-FFF2-40B4-BE49-F238E27FC236}">
                <a16:creationId xmlns:a16="http://schemas.microsoft.com/office/drawing/2014/main" id="{6692097A-E8E9-B5D6-E25C-069373F56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9417" y="1690688"/>
            <a:ext cx="4724697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8B9F3D-97CD-5A70-8A96-511ECB134DFB}"/>
              </a:ext>
            </a:extLst>
          </p:cNvPr>
          <p:cNvSpPr txBox="1"/>
          <p:nvPr/>
        </p:nvSpPr>
        <p:spPr>
          <a:xfrm>
            <a:off x="838200" y="1787416"/>
            <a:ext cx="6601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Innings Pitched and Log Salary exhibit the strongest positive relationship</a:t>
            </a:r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793486CA-B2A7-A872-C6B3-917044EA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Source: Spotrac, Fangraphs, </a:t>
            </a:r>
            <a:r>
              <a:rPr lang="en-US" dirty="0" err="1"/>
              <a:t>Statcast</a:t>
            </a:r>
            <a:r>
              <a:rPr lang="en-US" dirty="0"/>
              <a:t>, Author calculations</a:t>
            </a:r>
          </a:p>
        </p:txBody>
      </p:sp>
    </p:spTree>
    <p:extLst>
      <p:ext uri="{BB962C8B-B14F-4D97-AF65-F5344CB8AC3E}">
        <p14:creationId xmlns:p14="http://schemas.microsoft.com/office/powerpoint/2010/main" val="213458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20F7-9BC3-E624-6C3F-262EAED0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Specification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FF4F8-8D03-B0DD-A3E5-4D68374532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log(</a:t>
                </a:r>
                <a:r>
                  <a:rPr lang="en-US" i="1" dirty="0"/>
                  <a:t>Salary</a:t>
                </a:r>
                <a:r>
                  <a:rPr lang="en-US" i="1" baseline="-25000" dirty="0"/>
                  <a:t>𝑖 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aseline="-25000" dirty="0"/>
                  <a:t>0</a:t>
                </a:r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(</a:t>
                </a:r>
                <a:r>
                  <a:rPr lang="en-US" i="1" dirty="0"/>
                  <a:t>IP / 10</a:t>
                </a:r>
                <a:r>
                  <a:rPr lang="en-US" dirty="0"/>
                  <a:t>)</a:t>
                </a:r>
                <a:r>
                  <a:rPr lang="en-US" baseline="-25000" dirty="0"/>
                  <a:t> </a:t>
                </a:r>
                <a:r>
                  <a:rPr lang="en-US" i="1" baseline="-25000" dirty="0"/>
                  <a:t>𝑖</a:t>
                </a:r>
                <a:r>
                  <a:rPr lang="en-US" dirty="0"/>
                  <a:t>  +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i="1" dirty="0"/>
                  <a:t>K</a:t>
                </a:r>
                <a:r>
                  <a:rPr lang="en-US" i="1" baseline="-25000" dirty="0"/>
                  <a:t>𝑖</a:t>
                </a:r>
                <a:r>
                  <a:rPr lang="en-US" dirty="0"/>
                  <a:t>  + 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aseline="-25000" dirty="0"/>
                  <a:t>3 </a:t>
                </a:r>
                <a:r>
                  <a:rPr lang="en-US" i="1" dirty="0"/>
                  <a:t>BB</a:t>
                </a:r>
                <a:r>
                  <a:rPr lang="en-US" i="1" baseline="-25000" dirty="0"/>
                  <a:t>𝑖</a:t>
                </a:r>
                <a:r>
                  <a:rPr lang="en-US" dirty="0"/>
                  <a:t>  +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aseline="-25000" dirty="0"/>
                  <a:t>4 </a:t>
                </a:r>
                <a:r>
                  <a:rPr lang="en-US" i="1" dirty="0"/>
                  <a:t>ERA</a:t>
                </a:r>
                <a:r>
                  <a:rPr lang="en-US" i="1" baseline="-25000" dirty="0"/>
                  <a:t>𝑖</a:t>
                </a:r>
                <a:r>
                  <a:rPr lang="en-US" dirty="0"/>
                  <a:t>  +  </a:t>
                </a:r>
                <a:r>
                  <a:rPr lang="el-GR" dirty="0"/>
                  <a:t>δ</a:t>
                </a:r>
                <a:r>
                  <a:rPr lang="en-US" baseline="-25000" dirty="0"/>
                  <a:t>t</a:t>
                </a:r>
                <a:r>
                  <a:rPr lang="en-US" dirty="0"/>
                  <a:t>  +  𝓊</a:t>
                </a:r>
                <a:r>
                  <a:rPr lang="en-US" i="1" baseline="-25000" dirty="0"/>
                  <a:t>𝑖</a:t>
                </a:r>
              </a:p>
              <a:p>
                <a:pPr marL="0" indent="0">
                  <a:buNone/>
                </a:pPr>
                <a:endParaRPr lang="en-US" sz="2000" baseline="-25000" dirty="0"/>
              </a:p>
              <a:p>
                <a:r>
                  <a:rPr lang="en-US" sz="2000" dirty="0"/>
                  <a:t>Salary modeled in logs</a:t>
                </a:r>
              </a:p>
              <a:p>
                <a:r>
                  <a:rPr lang="en-US" sz="2000" dirty="0"/>
                  <a:t>Year fixed effects control for differences in salary environments across arbitration classes (2016-2026)</a:t>
                </a:r>
              </a:p>
              <a:p>
                <a:r>
                  <a:rPr lang="en-US" sz="2000" dirty="0"/>
                  <a:t>Prior-year performance predicts arbitration outcomes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FF4F8-8D03-B0DD-A3E5-4D6837453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190F7902-1C65-6D45-D629-550015BED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10312"/>
            <a:ext cx="4114800" cy="365125"/>
          </a:xfrm>
        </p:spPr>
        <p:txBody>
          <a:bodyPr/>
          <a:lstStyle/>
          <a:p>
            <a:r>
              <a:rPr lang="el-GR" dirty="0"/>
              <a:t>δ</a:t>
            </a:r>
            <a:r>
              <a:rPr lang="en-US" dirty="0"/>
              <a:t>t = Year fixed effects</a:t>
            </a:r>
          </a:p>
          <a:p>
            <a:r>
              <a:rPr lang="en-US" dirty="0"/>
              <a:t>𝓊</a:t>
            </a:r>
            <a:r>
              <a:rPr lang="en-US" i="1" baseline="-25000" dirty="0"/>
              <a:t>𝑖 </a:t>
            </a:r>
            <a:r>
              <a:rPr lang="en-US" i="1" dirty="0"/>
              <a:t> = error term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26862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53E9-2BE7-FBF7-2C46-5DA765ED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C74251-9CE0-DA8A-F4F3-4D36FBEA6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065581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1478886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319261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64528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8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IP (10 Innings)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747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15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BB%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20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642661"/>
                  </a:ext>
                </a:extLst>
              </a:tr>
            </a:tbl>
          </a:graphicData>
        </a:graphic>
      </p:graphicFrame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20EDFF9D-160F-7176-4EB9-6451451D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Source: Spotrac, Fangraphs, </a:t>
            </a:r>
            <a:r>
              <a:rPr lang="en-US" dirty="0" err="1"/>
              <a:t>Statcast</a:t>
            </a:r>
            <a:r>
              <a:rPr lang="en-US" dirty="0"/>
              <a:t>, Author calculations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829F0-694A-F8AB-1390-B419A31A5B91}"/>
              </a:ext>
            </a:extLst>
          </p:cNvPr>
          <p:cNvSpPr txBox="1"/>
          <p:nvPr/>
        </p:nvSpPr>
        <p:spPr>
          <a:xfrm>
            <a:off x="9178724" y="1179294"/>
            <a:ext cx="4132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R</a:t>
            </a:r>
            <a:r>
              <a:rPr lang="en-US" baseline="30000" dirty="0"/>
              <a:t>2 </a:t>
            </a:r>
            <a:r>
              <a:rPr lang="en-US" dirty="0"/>
              <a:t>= .56</a:t>
            </a:r>
          </a:p>
          <a:p>
            <a:r>
              <a:rPr lang="en-US" dirty="0"/>
              <a:t>N = 124</a:t>
            </a:r>
          </a:p>
        </p:txBody>
      </p:sp>
    </p:spTree>
    <p:extLst>
      <p:ext uri="{BB962C8B-B14F-4D97-AF65-F5344CB8AC3E}">
        <p14:creationId xmlns:p14="http://schemas.microsoft.com/office/powerpoint/2010/main" val="408165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CF55-7AD5-1F97-C362-136D277B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Plot</a:t>
            </a:r>
          </a:p>
        </p:txBody>
      </p:sp>
      <p:pic>
        <p:nvPicPr>
          <p:cNvPr id="5" name="Content Placeholder 4" descr="A graph with black dots and white text&#10;&#10;AI-generated content may be incorrect.">
            <a:extLst>
              <a:ext uri="{FF2B5EF4-FFF2-40B4-BE49-F238E27FC236}">
                <a16:creationId xmlns:a16="http://schemas.microsoft.com/office/drawing/2014/main" id="{2ED0E003-35CE-CA89-76B2-3FDE55CBA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04643" y="1308723"/>
            <a:ext cx="5182714" cy="4773161"/>
          </a:xfrm>
        </p:spPr>
      </p:pic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F980CD30-FAFA-CB76-6B96-1AB02FF8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Source: Spotrac, Fangraphs, </a:t>
            </a:r>
            <a:r>
              <a:rPr lang="en-US" dirty="0" err="1"/>
              <a:t>Statcast</a:t>
            </a:r>
            <a:r>
              <a:rPr lang="en-US" dirty="0"/>
              <a:t>, Author calculations</a:t>
            </a:r>
          </a:p>
        </p:txBody>
      </p:sp>
    </p:spTree>
    <p:extLst>
      <p:ext uri="{BB962C8B-B14F-4D97-AF65-F5344CB8AC3E}">
        <p14:creationId xmlns:p14="http://schemas.microsoft.com/office/powerpoint/2010/main" val="106654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9C88-0B10-5623-FC55-B1F4E1EB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Baseball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CBD9D-E949-D833-DB0F-EC4253FAA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Key Findings</a:t>
            </a:r>
          </a:p>
          <a:p>
            <a:pPr marL="457200" lvl="1" indent="0">
              <a:buNone/>
            </a:pPr>
            <a:r>
              <a:rPr lang="en-US" sz="1600" i="1" dirty="0"/>
              <a:t>Estimated average effects holding performance and season constant</a:t>
            </a:r>
          </a:p>
          <a:p>
            <a:r>
              <a:rPr lang="en-US" sz="2000" dirty="0"/>
              <a:t>Workload dominates</a:t>
            </a:r>
          </a:p>
          <a:p>
            <a:pPr lvl="1"/>
            <a:r>
              <a:rPr lang="en-US" sz="2000" dirty="0"/>
              <a:t>10 additional innings pitched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~ 5.8% higher salary </a:t>
            </a:r>
          </a:p>
          <a:p>
            <a:r>
              <a:rPr lang="en-US" sz="2000" dirty="0"/>
              <a:t>ERA still matters</a:t>
            </a:r>
          </a:p>
          <a:p>
            <a:pPr lvl="1"/>
            <a:r>
              <a:rPr lang="en-US" sz="2000" dirty="0"/>
              <a:t>One-run ERA increase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~ 11% lower salary</a:t>
            </a:r>
          </a:p>
          <a:p>
            <a:r>
              <a:rPr lang="en-US" sz="2000" dirty="0"/>
              <a:t>Strikeouts help</a:t>
            </a:r>
          </a:p>
          <a:p>
            <a:pPr lvl="1"/>
            <a:r>
              <a:rPr lang="en-US" sz="2000" dirty="0"/>
              <a:t>Moderate evidence</a:t>
            </a:r>
          </a:p>
          <a:p>
            <a:r>
              <a:rPr lang="en-US" sz="2000" dirty="0"/>
              <a:t>Walks appear less influential</a:t>
            </a:r>
          </a:p>
          <a:p>
            <a:r>
              <a:rPr lang="en-US" sz="2000" dirty="0"/>
              <a:t>Arbitration may reward traditional workload and run-prevention metrics more heavily than advanced indicators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71CCED-5CFF-B94D-19CD-0021E281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Year fixed effects included; error bars represent 95%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223627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C2EC-BEB2-567A-9E2C-7BB12A40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Successes and Failures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4E25EA-42BC-B312-ABFD-41FDF126B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217398"/>
              </p:ext>
            </p:extLst>
          </p:nvPr>
        </p:nvGraphicFramePr>
        <p:xfrm>
          <a:off x="838200" y="2311762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6011225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85623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709448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41709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8608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8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Shane Bieber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$2.65M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+$3.35M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00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Corbin Burnes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$4.74M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+$1.76M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76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Hunter 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$4.35M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$5.71M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+$1.36M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5909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33E9BB-07C4-C12C-B18A-74FF5C3172C2}"/>
              </a:ext>
            </a:extLst>
          </p:cNvPr>
          <p:cNvSpPr txBox="1"/>
          <p:nvPr/>
        </p:nvSpPr>
        <p:spPr>
          <a:xfrm>
            <a:off x="838200" y="1816559"/>
            <a:ext cx="2703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Largest Underpredictions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B6A18-3D93-23BB-0B3E-6B418ED4099D}"/>
              </a:ext>
            </a:extLst>
          </p:cNvPr>
          <p:cNvSpPr txBox="1"/>
          <p:nvPr/>
        </p:nvSpPr>
        <p:spPr>
          <a:xfrm>
            <a:off x="752354" y="4282633"/>
            <a:ext cx="107297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Interpretation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largest underpredictions occur among elite pitchers, suggesting arbitration awards may incorporate factors not fully captured by traditional performance metrics</a:t>
            </a:r>
          </a:p>
          <a:p>
            <a:endParaRPr lang="en-US" dirty="0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39A23FEC-9897-B9C5-127C-27E6BDD4B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Source: Spotrac, Fangraphs, </a:t>
            </a:r>
            <a:r>
              <a:rPr lang="en-US" dirty="0" err="1"/>
              <a:t>Statcast</a:t>
            </a:r>
            <a:r>
              <a:rPr lang="en-US" dirty="0"/>
              <a:t>, Author calculations</a:t>
            </a:r>
          </a:p>
        </p:txBody>
      </p:sp>
    </p:spTree>
    <p:extLst>
      <p:ext uri="{BB962C8B-B14F-4D97-AF65-F5344CB8AC3E}">
        <p14:creationId xmlns:p14="http://schemas.microsoft.com/office/powerpoint/2010/main" val="358236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9D102-7242-89B1-BB1C-17AC21AB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A187-CEB4-38A4-971A-47897B66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Successes and Failures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9C7792-159E-F42A-E42A-B891BEA2D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023462"/>
              </p:ext>
            </p:extLst>
          </p:nvPr>
        </p:nvGraphicFramePr>
        <p:xfrm>
          <a:off x="838200" y="2311762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6011225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85623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709448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41709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8608619"/>
                    </a:ext>
                  </a:extLst>
                </a:gridCol>
              </a:tblGrid>
              <a:tr h="301736">
                <a:tc>
                  <a:txBody>
                    <a:bodyPr/>
                    <a:lstStyle/>
                    <a:p>
                      <a:r>
                        <a:rPr lang="en-US" dirty="0"/>
                        <a:t>Pitcher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84689"/>
                  </a:ext>
                </a:extLst>
              </a:tr>
              <a:tr h="301736">
                <a:tc>
                  <a:txBody>
                    <a:bodyPr/>
                    <a:lstStyle/>
                    <a:p>
                      <a:r>
                        <a:rPr lang="en-US" dirty="0"/>
                        <a:t>Michael 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$2.09M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-$788K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009749"/>
                  </a:ext>
                </a:extLst>
              </a:tr>
              <a:tr h="301736">
                <a:tc>
                  <a:txBody>
                    <a:bodyPr/>
                    <a:lstStyle/>
                    <a:p>
                      <a:r>
                        <a:rPr lang="en-US" dirty="0"/>
                        <a:t>Cal Quantrill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-$752K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7681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7C78CB-A401-CCD0-7006-BB2C6B8767DA}"/>
              </a:ext>
            </a:extLst>
          </p:cNvPr>
          <p:cNvSpPr txBox="1"/>
          <p:nvPr/>
        </p:nvSpPr>
        <p:spPr>
          <a:xfrm>
            <a:off x="838200" y="1816559"/>
            <a:ext cx="256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Largest Overpredictions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C98844-F3FE-5463-8640-FE398DC2D611}"/>
              </a:ext>
            </a:extLst>
          </p:cNvPr>
          <p:cNvSpPr txBox="1"/>
          <p:nvPr/>
        </p:nvSpPr>
        <p:spPr>
          <a:xfrm>
            <a:off x="731134" y="3949093"/>
            <a:ext cx="1072973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Interpretation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Performance metrics alone may not capture role or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89B8-5C8C-27D1-2226-FF3DB682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4C9E9-0377-3733-E187-B749D4E0AE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Possible omitted variables</a:t>
                </a:r>
              </a:p>
              <a:p>
                <a:pPr lvl="1"/>
                <a:r>
                  <a:rPr lang="en-US" sz="2000" dirty="0"/>
                  <a:t>WAR</a:t>
                </a:r>
              </a:p>
              <a:p>
                <a:pPr lvl="1"/>
                <a:r>
                  <a:rPr lang="en-US" sz="2000" dirty="0"/>
                  <a:t>Awards</a:t>
                </a:r>
              </a:p>
              <a:p>
                <a:pPr lvl="1"/>
                <a:r>
                  <a:rPr lang="en-US" sz="2000" dirty="0"/>
                  <a:t>Injuries</a:t>
                </a:r>
              </a:p>
              <a:p>
                <a:pPr lvl="1"/>
                <a:r>
                  <a:rPr lang="en-US" sz="2000" dirty="0"/>
                  <a:t>Reputation</a:t>
                </a:r>
              </a:p>
              <a:p>
                <a:pPr lvl="1"/>
                <a:r>
                  <a:rPr lang="en-US" sz="2000" dirty="0"/>
                  <a:t>Role</a:t>
                </a:r>
              </a:p>
              <a:p>
                <a:pPr lvl="1"/>
                <a:r>
                  <a:rPr lang="en-US" sz="2000" dirty="0"/>
                  <a:t>Comparable-player effects</a:t>
                </a:r>
              </a:p>
              <a:p>
                <a:pPr lvl="1"/>
                <a:r>
                  <a:rPr lang="en-US" sz="2000" dirty="0"/>
                  <a:t>Advanced </a:t>
                </a:r>
                <a:r>
                  <a:rPr lang="en-US" sz="2000" dirty="0" err="1"/>
                  <a:t>Statcast</a:t>
                </a:r>
                <a:r>
                  <a:rPr lang="en-US" sz="2000" dirty="0"/>
                  <a:t> metrics excluded from baseline specification</a:t>
                </a:r>
              </a:p>
              <a:p>
                <a:r>
                  <a:rPr lang="en-US" sz="2000" dirty="0"/>
                  <a:t>Violations of: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𝛦(𝓊 | 𝛸 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b="0" dirty="0">
                    <a:ea typeface="Cambria Math" panose="02040503050406030204" pitchFamily="18" charset="0"/>
                  </a:rPr>
                  <a:t> </a:t>
                </a:r>
                <a:r>
                  <a:rPr lang="en-US" sz="2000" b="0" dirty="0">
                    <a:ea typeface="Cambria Math" panose="02040503050406030204" pitchFamily="18" charset="0"/>
                    <a:sym typeface="Wingdings" pitchFamily="2" charset="2"/>
                  </a:rPr>
                  <a:t> may create omitted variable bias</a:t>
                </a:r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4C9E9-0377-3733-E187-B749D4E0AE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483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5DD0-2C77-8EBF-231E-ECC7C6C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F46D-A3AC-0C39-D4F7-70839F45B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Workload and run prevention significantly influence first-year arbitration salaries</a:t>
            </a:r>
          </a:p>
          <a:p>
            <a:r>
              <a:rPr lang="en-US" sz="2000" dirty="0"/>
              <a:t>Arbitration appears to reward traditional performance outcomes, although advanced contact-quality metrics also demonstrate predictive value</a:t>
            </a:r>
          </a:p>
          <a:p>
            <a:r>
              <a:rPr lang="en-US" sz="2000" dirty="0"/>
              <a:t>Elite pitchers may receive premiums beyond measurable performance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77693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EDF0-E1B0-1B5A-76B5-1E5EBFD6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58C48-3317-C007-1068-1485B3C3D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613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Takeaways</a:t>
            </a:r>
          </a:p>
          <a:p>
            <a:pPr lvl="1"/>
            <a:r>
              <a:rPr lang="en-US" sz="2000" dirty="0"/>
              <a:t>Cross-Validation used to select the penalty parameter </a:t>
            </a:r>
            <a:r>
              <a:rPr lang="el-GR" sz="2000" dirty="0"/>
              <a:t>(λ)</a:t>
            </a:r>
            <a:endParaRPr lang="en-US" sz="2000" dirty="0"/>
          </a:p>
          <a:p>
            <a:pPr lvl="1"/>
            <a:r>
              <a:rPr lang="en-US" sz="2000" dirty="0"/>
              <a:t>Simplest model within one standard error retained:</a:t>
            </a:r>
          </a:p>
          <a:p>
            <a:pPr lvl="2"/>
            <a:r>
              <a:rPr lang="en-US" sz="1600" dirty="0"/>
              <a:t>Quality Starts</a:t>
            </a:r>
          </a:p>
          <a:p>
            <a:pPr lvl="2"/>
            <a:r>
              <a:rPr lang="en-US" sz="1600" dirty="0" err="1"/>
              <a:t>xwOBA</a:t>
            </a:r>
            <a:endParaRPr lang="en-US" sz="1600" dirty="0"/>
          </a:p>
          <a:p>
            <a:pPr lvl="2"/>
            <a:r>
              <a:rPr lang="en-US" sz="1600" dirty="0"/>
              <a:t>Barrel Rate</a:t>
            </a:r>
          </a:p>
          <a:p>
            <a:pPr lvl="1"/>
            <a:r>
              <a:rPr lang="en-US" sz="2000" dirty="0"/>
              <a:t>RMSE = .239 (vs. .231 for OLS)</a:t>
            </a:r>
          </a:p>
          <a:p>
            <a:pPr lvl="1"/>
            <a:r>
              <a:rPr lang="en-US" sz="2000" dirty="0"/>
              <a:t>LASSO emphasized workload outcomes and contact-quality measures while shrinking traditional rate statistics toward zero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30D8232-DE47-5443-1E28-CB11DF83A9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539433"/>
            <a:ext cx="2841585" cy="20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92C135-ED2C-C4F7-89E1-5E54B2C19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339" y="1690688"/>
            <a:ext cx="4559461" cy="416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25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4235</TotalTime>
  <Words>613</Words>
  <Application>Microsoft Macintosh PowerPoint</Application>
  <PresentationFormat>Widescreen</PresentationFormat>
  <Paragraphs>175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Office Theme</vt:lpstr>
      <vt:lpstr>What Drives First-Year MLB Arbitration Salaries for Starting Pitchers?</vt:lpstr>
      <vt:lpstr>Why This Matters?</vt:lpstr>
      <vt:lpstr>Data</vt:lpstr>
      <vt:lpstr>Descriptive Statistics</vt:lpstr>
      <vt:lpstr>Correlation Heatmap</vt:lpstr>
      <vt:lpstr>Model Specification</vt:lpstr>
      <vt:lpstr>Results</vt:lpstr>
      <vt:lpstr>Coefficient Plot</vt:lpstr>
      <vt:lpstr>Baseball Interpretation</vt:lpstr>
      <vt:lpstr>Model Successes and Failures</vt:lpstr>
      <vt:lpstr>Model Successes and Failures</vt:lpstr>
      <vt:lpstr>Limitations</vt:lpstr>
      <vt:lpstr>Conclusion</vt:lpstr>
      <vt:lpstr>LASSO Extension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Hutchison</dc:creator>
  <cp:lastModifiedBy>Nicholas Hutchison</cp:lastModifiedBy>
  <cp:revision>9</cp:revision>
  <dcterms:created xsi:type="dcterms:W3CDTF">2026-05-24T20:58:57Z</dcterms:created>
  <dcterms:modified xsi:type="dcterms:W3CDTF">2026-06-07T08:12:20Z</dcterms:modified>
</cp:coreProperties>
</file>